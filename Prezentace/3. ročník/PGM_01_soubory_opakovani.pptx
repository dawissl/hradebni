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561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C90CD6-0E54-5071-9182-36048610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/>
          <a:p>
            <a:r>
              <a:rPr lang="cs-CZ" dirty="0"/>
              <a:t>Soubory a složky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E364F67-BE5F-AA7F-9525-0F7D636F3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PROGRAMOVÁNÍ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5AE27A1-125B-7955-BB01-DB47E198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A6FE19E-1922-4F86-9FD9-DCF0057EB5DE}" type="datetime1">
              <a:rPr lang="en-US" smtClean="0"/>
              <a:pPr>
                <a:spcAft>
                  <a:spcPts val="600"/>
                </a:spcAft>
              </a:pPr>
              <a:t>9/14/2026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90B1A9B-4205-8525-E5AA-27B99868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584676-79BC-4E35-6927-8126B364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1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ABE8DD-861D-6DE5-4EB8-111F934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 dirty="0"/>
              <a:t>Stream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972E93-DAC9-E513-56E0-FAE4C410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 dirty="0"/>
              <a:t>Součást knihovny </a:t>
            </a:r>
            <a:r>
              <a:rPr lang="cs-CZ" sz="1800" b="1" dirty="0"/>
              <a:t>System.IO 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Vytváří standard pro přenos souborů v datových proudech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Abstraktní třída umožňující čtení/zápis z různých zdrojů (soubor, paměť, …)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Následující třídy implementují třídu Stream podle konkrétního zdroje</a:t>
            </a:r>
          </a:p>
          <a:p>
            <a:pPr>
              <a:lnSpc>
                <a:spcPct val="110000"/>
              </a:lnSpc>
            </a:pPr>
            <a:r>
              <a:rPr lang="cs-CZ" sz="1800" b="1" dirty="0" err="1"/>
              <a:t>FileStream</a:t>
            </a:r>
            <a:r>
              <a:rPr lang="cs-CZ" sz="1800" dirty="0"/>
              <a:t> – fyzické soubory</a:t>
            </a:r>
          </a:p>
          <a:p>
            <a:pPr>
              <a:lnSpc>
                <a:spcPct val="110000"/>
              </a:lnSpc>
            </a:pPr>
            <a:r>
              <a:rPr lang="cs-CZ" sz="1800" b="1" dirty="0" err="1"/>
              <a:t>MemoryStream</a:t>
            </a:r>
            <a:r>
              <a:rPr lang="cs-CZ" sz="1800" dirty="0"/>
              <a:t> – operační paměť</a:t>
            </a:r>
          </a:p>
          <a:p>
            <a:pPr>
              <a:lnSpc>
                <a:spcPct val="110000"/>
              </a:lnSpc>
            </a:pPr>
            <a:r>
              <a:rPr lang="cs-CZ" sz="1800" b="1" dirty="0" err="1"/>
              <a:t>BufferedStream</a:t>
            </a:r>
            <a:r>
              <a:rPr lang="cs-CZ" sz="1800" dirty="0"/>
              <a:t> – jiné proudy (</a:t>
            </a:r>
            <a:r>
              <a:rPr lang="cs-CZ" sz="1800" dirty="0" err="1"/>
              <a:t>streams</a:t>
            </a:r>
            <a:r>
              <a:rPr lang="cs-CZ" sz="1800" dirty="0"/>
              <a:t>)</a:t>
            </a:r>
          </a:p>
          <a:p>
            <a:pPr>
              <a:lnSpc>
                <a:spcPct val="110000"/>
              </a:lnSpc>
            </a:pPr>
            <a:r>
              <a:rPr lang="cs-CZ" sz="1800" b="1" dirty="0" err="1"/>
              <a:t>NetworkStream</a:t>
            </a:r>
            <a:r>
              <a:rPr lang="cs-CZ" sz="1800" dirty="0"/>
              <a:t> – síťové </a:t>
            </a:r>
            <a:r>
              <a:rPr lang="cs-CZ" sz="1800" dirty="0" err="1"/>
              <a:t>sockety</a:t>
            </a:r>
            <a:endParaRPr lang="cs-CZ" sz="1800" dirty="0"/>
          </a:p>
          <a:p>
            <a:pPr>
              <a:lnSpc>
                <a:spcPct val="110000"/>
              </a:lnSpc>
            </a:pPr>
            <a:r>
              <a:rPr lang="cs-CZ" sz="1800" b="1" dirty="0" err="1"/>
              <a:t>PipeStream</a:t>
            </a:r>
            <a:r>
              <a:rPr lang="cs-CZ" sz="1800" dirty="0"/>
              <a:t> - procesy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04C8FDB-7636-E099-933A-56FA7B97D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9/14/2026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7D57CBD-615F-100D-50B2-90B3CAFE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1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386235-FE3A-529E-ABE4-2D0F0B96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StreamReader</a:t>
            </a:r>
            <a:r>
              <a:rPr lang="cs-CZ" dirty="0"/>
              <a:t>, </a:t>
            </a:r>
            <a:r>
              <a:rPr lang="cs-CZ" dirty="0" err="1"/>
              <a:t>StreamWriter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2C0A67-6AAD-4B74-66BE-EE8315B5F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Obě třídy slouží jako pomoc pro snazší čtení a zápis dat</a:t>
            </a:r>
          </a:p>
          <a:p>
            <a:r>
              <a:rPr lang="cs-CZ" dirty="0"/>
              <a:t>Konvertují čtené  datové </a:t>
            </a:r>
            <a:r>
              <a:rPr lang="cs-CZ" dirty="0" err="1"/>
              <a:t>bytes</a:t>
            </a:r>
            <a:r>
              <a:rPr lang="cs-CZ" dirty="0"/>
              <a:t> do znaků případně řetězců</a:t>
            </a:r>
          </a:p>
          <a:p>
            <a:r>
              <a:rPr lang="cs-CZ" dirty="0"/>
              <a:t>Konvertují zapisované znaky a řetězce do datových </a:t>
            </a:r>
            <a:r>
              <a:rPr lang="cs-CZ" dirty="0" err="1"/>
              <a:t>bates</a:t>
            </a:r>
            <a:r>
              <a:rPr lang="cs-CZ" dirty="0"/>
              <a:t> </a:t>
            </a:r>
          </a:p>
          <a:p>
            <a:r>
              <a:rPr lang="cs-CZ" dirty="0"/>
              <a:t>Lze je používat pro různé typy streamů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00EB5D-7C8D-FFC8-A35F-45486B97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4001047"/>
            <a:ext cx="5105400" cy="9074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Date Placeholder 4">
            <a:extLst>
              <a:ext uri="{FF2B5EF4-FFF2-40B4-BE49-F238E27FC236}">
                <a16:creationId xmlns:a16="http://schemas.microsoft.com/office/drawing/2014/main" id="{C4915C41-4C4D-22DA-6C1D-8EDCD60C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DB10B2D-01E8-4002-8A48-DE45466FA1D6}" type="datetime1">
              <a:rPr lang="en-US" smtClean="0"/>
              <a:pPr>
                <a:spcAft>
                  <a:spcPts val="600"/>
                </a:spcAft>
              </a:pPr>
              <a:t>9/14/2026</a:t>
            </a:fld>
            <a:endParaRPr lang="en-US"/>
          </a:p>
        </p:txBody>
      </p:sp>
      <p:sp>
        <p:nvSpPr>
          <p:cNvPr id="1033" name="Footer Placeholder 5">
            <a:extLst>
              <a:ext uri="{FF2B5EF4-FFF2-40B4-BE49-F238E27FC236}">
                <a16:creationId xmlns:a16="http://schemas.microsoft.com/office/drawing/2014/main" id="{70C36DC6-11A5-C29B-C763-7C785709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35" name="Slide Number Placeholder 6">
            <a:extLst>
              <a:ext uri="{FF2B5EF4-FFF2-40B4-BE49-F238E27FC236}">
                <a16:creationId xmlns:a16="http://schemas.microsoft.com/office/drawing/2014/main" id="{E622008F-6F8C-F456-F22A-BD8F931F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4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085EB1-21A1-CD43-A142-E14178B8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čtení a zápisu do textového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5FE7AC0-A3B1-E3C0-FBD1-32FCB56D6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Výpis souboru do konzole</a:t>
            </a:r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3648A306-1FEE-D803-2355-BF6400B69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3944" y="3721894"/>
            <a:ext cx="4762500" cy="1752600"/>
          </a:xfrm>
        </p:spPr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50EDE671-98A9-5358-733F-213EF1E92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Zápis do soubor</a:t>
            </a:r>
          </a:p>
        </p:txBody>
      </p:sp>
      <p:pic>
        <p:nvPicPr>
          <p:cNvPr id="11" name="Zástupný obsah 10">
            <a:extLst>
              <a:ext uri="{FF2B5EF4-FFF2-40B4-BE49-F238E27FC236}">
                <a16:creationId xmlns:a16="http://schemas.microsoft.com/office/drawing/2014/main" id="{2DA7B9AA-1866-F0CF-B410-4AC9979448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731239"/>
            <a:ext cx="5183188" cy="1733910"/>
          </a:xfrm>
        </p:spPr>
      </p:pic>
    </p:spTree>
    <p:extLst>
      <p:ext uri="{BB962C8B-B14F-4D97-AF65-F5344CB8AC3E}">
        <p14:creationId xmlns:p14="http://schemas.microsoft.com/office/powerpoint/2010/main" val="19618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495D63-421F-19F8-9DDA-3496A16E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Neexistující soubor pro zápis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C756C9-0A46-08F9-4580-4EBB5A356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Try - </a:t>
            </a:r>
            <a:r>
              <a:rPr lang="cs-CZ" dirty="0" err="1"/>
              <a:t>catch</a:t>
            </a:r>
            <a:endParaRPr lang="cs-CZ" dirty="0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0B85BDB5-7257-A0A1-E77A-D60E437849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6853" y="3006725"/>
            <a:ext cx="4656681" cy="3182938"/>
          </a:xfrm>
        </p:spPr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0518221-AF82-FBC4-9E4A-D0692794C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err="1"/>
              <a:t>File</a:t>
            </a:r>
            <a:endParaRPr lang="cs-CZ" dirty="0"/>
          </a:p>
        </p:txBody>
      </p:sp>
      <p:pic>
        <p:nvPicPr>
          <p:cNvPr id="11" name="Zástupný obsah 10">
            <a:extLst>
              <a:ext uri="{FF2B5EF4-FFF2-40B4-BE49-F238E27FC236}">
                <a16:creationId xmlns:a16="http://schemas.microsoft.com/office/drawing/2014/main" id="{BB6D7327-302B-509A-422C-D85A5C7DEA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11377" y="3006725"/>
            <a:ext cx="4704834" cy="3182938"/>
          </a:xfrm>
        </p:spPr>
      </p:pic>
    </p:spTree>
    <p:extLst>
      <p:ext uri="{BB962C8B-B14F-4D97-AF65-F5344CB8AC3E}">
        <p14:creationId xmlns:p14="http://schemas.microsoft.com/office/powerpoint/2010/main" val="94653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C71524-CE29-7204-814A-2C171F5C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File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E06F1C-D258-274F-C40F-A7826AB59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Statická třída pro práci s textovým souborem</a:t>
            </a:r>
          </a:p>
          <a:p>
            <a:r>
              <a:rPr lang="cs-CZ" dirty="0"/>
              <a:t>Pro práci s třídou </a:t>
            </a:r>
            <a:r>
              <a:rPr lang="cs-CZ" dirty="0" err="1"/>
              <a:t>File</a:t>
            </a:r>
            <a:r>
              <a:rPr lang="cs-CZ" dirty="0"/>
              <a:t> není třeba ustanovovat datové proudy</a:t>
            </a:r>
          </a:p>
          <a:p>
            <a:r>
              <a:rPr lang="cs-CZ" dirty="0"/>
              <a:t>Pokud chceme mít větší kontrolu nad práci se souborem využijeme třídu </a:t>
            </a:r>
            <a:r>
              <a:rPr lang="cs-CZ" b="1" dirty="0" err="1"/>
              <a:t>FileInfo</a:t>
            </a:r>
            <a:endParaRPr lang="cs-CZ" b="1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171B47B-9E9F-AB8E-C232-952551B6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71919"/>
            <a:ext cx="5105400" cy="1365694"/>
          </a:xfrm>
          <a:prstGeom prst="rect">
            <a:avLst/>
          </a:prstGeom>
          <a:noFill/>
        </p:spPr>
      </p:pic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B9CD985-E840-BEAC-7B97-8E147416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11C89FD-5CF5-4718-9A1D-873031CD022A}" type="datetime1">
              <a:rPr lang="en-US" smtClean="0"/>
              <a:pPr>
                <a:spcAft>
                  <a:spcPts val="600"/>
                </a:spcAft>
              </a:pPr>
              <a:t>9/14/2026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4ACA565-9F73-792B-C518-BC1899CB5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5C07FE7-A99F-A56B-27A0-8B9C7EEC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0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B8D8AD-726C-7AB6-573B-2C2C8B0A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Directory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96F939-8674-C729-00B3-8A15A0B83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Statická třída pro práci s adresáři</a:t>
            </a:r>
          </a:p>
          <a:p>
            <a:r>
              <a:rPr lang="cs-CZ" dirty="0"/>
              <a:t>Pokud chceme mít větší kontrolu nad práci s adresářem využijeme třídu </a:t>
            </a:r>
            <a:r>
              <a:rPr lang="cs-CZ" b="1" dirty="0" err="1"/>
              <a:t>DirectoryInfo</a:t>
            </a:r>
            <a:endParaRPr lang="cs-CZ" b="1" dirty="0"/>
          </a:p>
          <a:p>
            <a:endParaRPr lang="cs-CZ" dirty="0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F1C7110-9407-DC37-2AC1-6DF260A3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165652"/>
            <a:ext cx="5105400" cy="2578227"/>
          </a:xfrm>
          <a:prstGeom prst="rect">
            <a:avLst/>
          </a:prstGeom>
          <a:noFill/>
        </p:spPr>
      </p:pic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A4A226E-3196-1301-70D8-6BD862BB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146AD57-4CB0-4F6A-8A06-FA81EFF42F62}" type="datetime1">
              <a:rPr lang="en-US" smtClean="0"/>
              <a:pPr>
                <a:spcAft>
                  <a:spcPts val="600"/>
                </a:spcAft>
              </a:pPr>
              <a:t>9/14/2026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464A21D-B1CD-D3AA-1F36-03255A9B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A6C7FF9-654B-7D48-B2BB-A1DE4357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8355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9ef8b661d8eb31bc59fd4d064638f75c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72de23a8390aadfc4041f33935428244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069700-2712-4E72-B11D-CD465575C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478</TotalTime>
  <Words>191</Words>
  <Application>Microsoft Office PowerPoint</Application>
  <PresentationFormat>Širokoúhlá obrazovka</PresentationFormat>
  <Paragraphs>46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Grandview Display</vt:lpstr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43</cp:revision>
  <dcterms:created xsi:type="dcterms:W3CDTF">2022-09-21T15:44:15Z</dcterms:created>
  <dcterms:modified xsi:type="dcterms:W3CDTF">2026-09-14T06:38:27Z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